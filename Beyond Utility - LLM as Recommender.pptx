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95500" y="2129879"/>
            <a:ext cx="8001000" cy="148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F8FAFC"/>
                </a:solidFill>
                <a:latin typeface="Montserrat"/>
              </a:rPr>
              <a:t>Beyond Utility:</a:t>
            </a:r>
            <a:r>
              <a:t>
</a:t>
            </a:r>
            <a:r>
              <a:rPr b="1" sz="4800" i="0" u="none">
                <a:solidFill>
                  <a:srgbClr val="10B981"/>
                </a:solidFill>
                <a:latin typeface="Montserrat"/>
              </a:rPr>
              <a:t>LLMs as Recommenders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806279"/>
            <a:ext cx="762000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0" sz="1800" i="0" u="none">
                <a:solidFill>
                  <a:srgbClr val="CBD5E1"/>
                </a:solidFill>
                <a:latin typeface="Open Sans"/>
              </a:rPr>
              <a:t>A presentation reproducing the framework and exploring the experimental findings of the </a:t>
            </a:r>
            <a:r>
              <a:rPr b="1" sz="1800" i="0" u="none">
                <a:solidFill>
                  <a:srgbClr val="CBD5E1"/>
                </a:solidFill>
                <a:latin typeface="Open Sans"/>
              </a:rPr>
              <a:t>"LLM as Ranker"</a:t>
            </a:r>
            <a:r>
              <a:rPr b="0" sz="1800" i="0" u="none">
                <a:solidFill>
                  <a:srgbClr val="CBD5E1"/>
                </a:solidFill>
                <a:latin typeface="Open Sans"/>
              </a:rPr>
              <a:t> phase.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395537"/>
            <a:ext cx="5238750" cy="29146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2395537"/>
            <a:ext cx="5238750" cy="29146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2025" y="2786062"/>
            <a:ext cx="468058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3B82F6"/>
                </a:solidFill>
                <a:latin typeface="Montserrat SemiBold"/>
              </a:rPr>
              <a:t>Traditional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2025" y="3252787"/>
            <a:ext cx="44577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Open Sans"/>
              </a:rPr>
              <a:t>Conventional systems are highly data-dependent and evaluated primarily on utility (accuracy, NDCG). They lack robust text-processing abilities and rely heavily on historical user-item interactions and IDs.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72275" y="2786062"/>
            <a:ext cx="468058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3B82F6"/>
                </a:solidFill>
                <a:latin typeface="Montserrat SemiBold"/>
              </a:rPr>
              <a:t>Large Language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72275" y="3252787"/>
            <a:ext cx="44577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Open Sans"/>
              </a:rPr>
              <a:t>LLMs introduce strong zero-shot capabilities, deep textual understanding, and generative power. However, they also bring unique challenges such as candidate position bias and hallucinations that demand new evaluation dimensions.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4375" y="571500"/>
            <a:ext cx="11451431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0F172A"/>
                </a:solidFill>
                <a:latin typeface="Montserrat SemiBold"/>
              </a:rPr>
              <a:t>The Motivation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571500"/>
            <a:ext cx="57150" cy="46672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14525"/>
            <a:ext cx="3429000" cy="38766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0" y="1914525"/>
            <a:ext cx="3429000" cy="38766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0" y="1914525"/>
            <a:ext cx="3429000" cy="38766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00839" y="3267075"/>
            <a:ext cx="2570321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100" i="0" u="none">
                <a:solidFill>
                  <a:srgbClr val="F8FAFC"/>
                </a:solidFill>
                <a:latin typeface="Montserrat SemiBold"/>
              </a:rPr>
              <a:t>History Sensitivity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733800"/>
            <a:ext cx="283845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Open Sans"/>
              </a:rPr>
              <a:t>Analyzing how LLMs perform with varying lengths of input histories. Can they generalize better in cold-start scenarios?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70884" y="3267075"/>
            <a:ext cx="1850231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100" i="0" u="none">
                <a:solidFill>
                  <a:srgbClr val="F8FAFC"/>
                </a:solidFill>
                <a:latin typeface="Montserrat SemiBold"/>
              </a:rPr>
              <a:t>Position Bias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6775" y="3733800"/>
            <a:ext cx="28384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Open Sans"/>
              </a:rPr>
              <a:t>Quantifying the LLM's tendency to prioritize items placed at the beginning of the prompt's candidate list regardless of relevance.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75871" y="3267075"/>
            <a:ext cx="2060257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100" i="0" u="none">
                <a:solidFill>
                  <a:srgbClr val="F8FAFC"/>
                </a:solidFill>
                <a:latin typeface="Montserrat SemiBold"/>
              </a:rPr>
              <a:t>Hallucinations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6775" y="3733800"/>
            <a:ext cx="28384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Open Sans"/>
              </a:rPr>
              <a:t>Measuring the frequency at which LLMs fabricate non-existent items, posing a direct threat to recommendation validity.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19300" y="2409825"/>
            <a:ext cx="533400" cy="533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95962" y="2409825"/>
            <a:ext cx="600075" cy="533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39300" y="2409825"/>
            <a:ext cx="533400" cy="533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14375" y="571500"/>
            <a:ext cx="11451431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F8FAFC"/>
                </a:solidFill>
                <a:latin typeface="Montserrat SemiBold"/>
              </a:rPr>
              <a:t>New Evaluation Dimensions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571500"/>
            <a:ext cx="57150" cy="4667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524500" y="2687984"/>
            <a:ext cx="1143000" cy="571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85461" y="3030884"/>
            <a:ext cx="8621077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5400" i="0" u="none">
                <a:solidFill>
                  <a:srgbClr val="F8FAFC"/>
                </a:solidFill>
                <a:latin typeface="Montserrat"/>
              </a:rPr>
              <a:t>Phase 1: LLM as Ranker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6987" y="4059584"/>
            <a:ext cx="7058025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b="0" sz="1950" i="0" u="none">
                <a:solidFill>
                  <a:srgbClr val="94A3B8"/>
                </a:solidFill>
                <a:latin typeface="Open Sans"/>
              </a:rPr>
              <a:t>Experimental Setup and Key Findings from our Reproduction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571500" y="1904107"/>
          <a:ext cx="11029949" cy="38975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807196"/>
                <a:gridCol w="8222753"/>
              </a:tblGrid>
              <a:tr h="779502">
                <a:tc>
                  <a:txBody>
                    <a:bodyPr/>
                    <a:lstStyle/>
                    <a:p>
                      <a:pPr algn="l"/>
                      <a:r>
                        <a:rPr b="1" sz="1650" i="0" u="none">
                          <a:solidFill>
                            <a:srgbClr val="0F172A"/>
                          </a:solidFill>
                          <a:latin typeface="Open Sans"/>
                        </a:rPr>
                        <a:t>Category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650" i="0" u="none">
                          <a:solidFill>
                            <a:srgbClr val="0F172A"/>
                          </a:solidFill>
                          <a:latin typeface="Open Sans"/>
                        </a:rPr>
                        <a:t>Details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779502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334155"/>
                          </a:solidFill>
                          <a:latin typeface="Open Sans"/>
                        </a:rPr>
                        <a:t>LLMs Evaluated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334155"/>
                          </a:solidFill>
                          <a:latin typeface="Open Sans"/>
                        </a:rPr>
                        <a:t>GPT-4o, GPT-3.5, Claude 3, Llama 3 (70B), Mistral (7B), Qwen 2 (7B)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79502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334155"/>
                          </a:solidFill>
                          <a:latin typeface="Open Sans"/>
                        </a:rPr>
                        <a:t>Traditional Baselines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334155"/>
                          </a:solidFill>
                          <a:latin typeface="Open Sans"/>
                        </a:rPr>
                        <a:t>MostPop, BM25, BPRMF, GRU4Rec, SASRec, LightGCN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79502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334155"/>
                          </a:solidFill>
                          <a:latin typeface="Open Sans"/>
                        </a:rPr>
                        <a:t>Datasets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334155"/>
                          </a:solidFill>
                          <a:latin typeface="Open Sans"/>
                        </a:rPr>
                        <a:t>Amazon Beauty, Sports &amp; Outdoors, ML-1M, LastFM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79502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334155"/>
                          </a:solidFill>
                          <a:latin typeface="Open Sans"/>
                        </a:rPr>
                        <a:t>Ranking Task Setup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334155"/>
                          </a:solidFill>
                          <a:latin typeface="Open Sans"/>
                        </a:rPr>
                        <a:t>Candidate pools of 1 positive item + 19 negative items. Title-based indexing.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581025" y="2705992"/>
            <a:ext cx="28071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388221" y="2705992"/>
            <a:ext cx="82227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81025" y="3477517"/>
            <a:ext cx="28071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88221" y="3477517"/>
            <a:ext cx="82227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4249042"/>
            <a:ext cx="28071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88221" y="4249042"/>
            <a:ext cx="82227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1025" y="5020567"/>
            <a:ext cx="28071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221" y="5020567"/>
            <a:ext cx="82227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4375" y="571500"/>
            <a:ext cx="11451431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0F172A"/>
                </a:solidFill>
                <a:latin typeface="Montserrat SemiBold"/>
              </a:rPr>
              <a:t>Reproduction Setup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571500"/>
            <a:ext cx="57150" cy="46672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0" y="1947862"/>
            <a:ext cx="5238750" cy="381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57250" y="1947862"/>
            <a:ext cx="495300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334155"/>
                </a:solidFill>
                <a:latin typeface="Open Sans"/>
              </a:rPr>
              <a:t>Domain Knowledge Advantage:</a:t>
            </a:r>
            <a:r>
              <a:rPr b="0" sz="1500" i="0" u="none">
                <a:solidFill>
                  <a:srgbClr val="334155"/>
                </a:solidFill>
                <a:latin typeface="Open Sans"/>
              </a:rPr>
              <a:t> While generally less accurate than optimal traditional models, LLMs excel in domains where they possess extensive prior knowledge (e.g., LastFM).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7250" y="3357562"/>
            <a:ext cx="4953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334155"/>
                </a:solidFill>
                <a:latin typeface="Open Sans"/>
              </a:rPr>
              <a:t>Niche Item Discovery:</a:t>
            </a:r>
            <a:r>
              <a:rPr b="0" sz="1500" i="0" u="none">
                <a:solidFill>
                  <a:srgbClr val="334155"/>
                </a:solidFill>
                <a:latin typeface="Open Sans"/>
              </a:rPr>
              <a:t> LLMs are significantly less affected by popularity bias. They successfully recommend accurate, long-tail (niche) items.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4462462"/>
            <a:ext cx="4953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334155"/>
                </a:solidFill>
                <a:latin typeface="Open Sans"/>
              </a:rPr>
              <a:t>Generative Profiling:</a:t>
            </a:r>
            <a:r>
              <a:rPr b="0" sz="1500" i="0" u="none">
                <a:solidFill>
                  <a:srgbClr val="334155"/>
                </a:solidFill>
                <a:latin typeface="Open Sans"/>
              </a:rPr>
              <a:t> LLM-generated profiles capture key user patterns, enhancing the explainability of the recommendation process.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947862"/>
            <a:ext cx="5238750" cy="381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1928812"/>
            <a:ext cx="10477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1800" i="0" u="none">
                <a:solidFill>
                  <a:srgbClr val="3B82F6"/>
                </a:solidFill>
                <a:latin typeface="Open Sans"/>
              </a:rPr>
              <a:t>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3338512"/>
            <a:ext cx="10477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1800" i="0" u="none">
                <a:solidFill>
                  <a:srgbClr val="3B82F6"/>
                </a:solidFill>
                <a:latin typeface="Open Sans"/>
              </a:rPr>
              <a:t>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443412"/>
            <a:ext cx="10477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1800" i="0" u="none">
                <a:solidFill>
                  <a:srgbClr val="3B82F6"/>
                </a:solidFill>
                <a:latin typeface="Open Sans"/>
              </a:rPr>
              <a:t>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4375" y="571500"/>
            <a:ext cx="11451431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0F172A"/>
                </a:solidFill>
                <a:latin typeface="Montserrat SemiBold"/>
              </a:rPr>
              <a:t>Utility &amp; Novelty Observations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" y="571500"/>
            <a:ext cx="57150" cy="46672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63066"/>
            <a:ext cx="11049000" cy="577974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5609332"/>
            <a:ext cx="10496550" cy="990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4375" y="115341"/>
            <a:ext cx="11451431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0F172A"/>
                </a:solidFill>
                <a:latin typeface="Montserrat SemiBold"/>
              </a:rPr>
              <a:t>History Length Sensitivity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115341"/>
            <a:ext cx="57150" cy="46672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19225"/>
            <a:ext cx="11049000" cy="48672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4800600"/>
            <a:ext cx="10496550" cy="1295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4375" y="571500"/>
            <a:ext cx="11451431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F8FAFC"/>
                </a:solidFill>
                <a:latin typeface="Montserrat SemiBold"/>
              </a:rPr>
              <a:t>Candidate Position Bias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571500"/>
            <a:ext cx="57150" cy="4667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909762"/>
            <a:ext cx="5238750" cy="18002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995737"/>
            <a:ext cx="5238750" cy="18002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81750" y="1909762"/>
            <a:ext cx="5500687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0F172A"/>
                </a:solidFill>
                <a:latin typeface="Montserrat SemiBold"/>
              </a:rPr>
              <a:t>Fabricated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81750" y="2376487"/>
            <a:ext cx="52387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Open Sans"/>
              </a:rPr>
              <a:t>Unlike traditional matrix factorization, generative models can invent items that do not exist in the catalog.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81750" y="3128962"/>
            <a:ext cx="523875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Open Sans"/>
              </a:rPr>
              <a:t>While models like GPT-4o keep hallucinations below 5%, smaller models like Mistral can generate up to 23% fake items, requiring robust string-matching and mitigation strategies to prevent degraded user experiences.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2205037"/>
            <a:ext cx="46482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6750"/>
              </a:lnSpc>
            </a:pPr>
            <a:r>
              <a:rPr b="1" sz="6750" i="0" u="none">
                <a:solidFill>
                  <a:srgbClr val="3B82F6"/>
                </a:solidFill>
                <a:latin typeface="Montserrat"/>
              </a:rPr>
              <a:t>&lt; 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157537"/>
            <a:ext cx="46482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334155"/>
                </a:solidFill>
                <a:latin typeface="Open Sans SemiBold"/>
              </a:rPr>
              <a:t>GPT-4o, Claude 3, Llama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75" y="4291012"/>
            <a:ext cx="46482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6750"/>
              </a:lnSpc>
            </a:pPr>
            <a:r>
              <a:rPr b="1" sz="6750" i="0" u="none">
                <a:solidFill>
                  <a:srgbClr val="EF4444"/>
                </a:solidFill>
                <a:latin typeface="Montserrat"/>
              </a:rPr>
              <a:t>~ 23%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775" y="5243512"/>
            <a:ext cx="46482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334155"/>
                </a:solidFill>
                <a:latin typeface="Open Sans SemiBold"/>
              </a:rPr>
              <a:t>Mistral 7B (Extreme Case)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4375" y="571500"/>
            <a:ext cx="11451431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0F172A"/>
                </a:solidFill>
                <a:latin typeface="Montserrat SemiBold"/>
              </a:rPr>
              <a:t>The Hallucination Problem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571500"/>
            <a:ext cx="57150" cy="46672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4214812"/>
            <a:ext cx="11049000" cy="381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7981" y="4567237"/>
            <a:ext cx="2468277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10B981"/>
                </a:solidFill>
                <a:latin typeface="Montserrat SemiBold"/>
              </a:rPr>
              <a:t>Step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4986337"/>
            <a:ext cx="235074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Open Sans"/>
              </a:rPr>
              <a:t>Environment Setup &amp; Dataset Preprocessing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43901" y="2850951"/>
            <a:ext cx="2468277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10B981"/>
                </a:solidFill>
                <a:latin typeface="Montserrat SemiBold"/>
              </a:rPr>
              <a:t>Step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02669" y="3270051"/>
            <a:ext cx="235074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Open Sans"/>
              </a:rPr>
              <a:t>Traditional Baseline Training (BPRMF, SASRec, etc.)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79821" y="4567237"/>
            <a:ext cx="2468277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3B82F6"/>
                </a:solidFill>
                <a:latin typeface="Montserrat SemiBold"/>
              </a:rPr>
              <a:t>Step 3 (Current)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8589" y="4986337"/>
            <a:ext cx="235074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Open Sans"/>
              </a:rPr>
              <a:t>Evaluating the </a:t>
            </a:r>
            <a:r>
              <a:rPr b="1" sz="1200" i="0" u="none">
                <a:solidFill>
                  <a:srgbClr val="CBD5E1"/>
                </a:solidFill>
                <a:latin typeface="Open Sans"/>
              </a:rPr>
              <a:t>"LLM as Ranker"</a:t>
            </a:r>
            <a:r>
              <a:rPr b="0" sz="1200" i="0" u="none">
                <a:solidFill>
                  <a:srgbClr val="CBD5E1"/>
                </a:solidFill>
                <a:latin typeface="Open Sans"/>
              </a:rPr>
              <a:t> Phase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15741" y="2850951"/>
            <a:ext cx="2468277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F59E0B"/>
                </a:solidFill>
                <a:latin typeface="Montserrat SemiBold"/>
              </a:rPr>
              <a:t>Step 4 (Next)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74509" y="3270051"/>
            <a:ext cx="235074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Open Sans"/>
              </a:rPr>
              <a:t>Evaluating the </a:t>
            </a:r>
            <a:r>
              <a:rPr b="1" sz="1200" i="0" u="none">
                <a:solidFill>
                  <a:srgbClr val="CBD5E1"/>
                </a:solidFill>
                <a:latin typeface="Open Sans"/>
              </a:rPr>
              <a:t>"LLM as Re-Ranker"</a:t>
            </a:r>
            <a:r>
              <a:rPr b="0" sz="1200" i="0" u="none">
                <a:solidFill>
                  <a:srgbClr val="CBD5E1"/>
                </a:solidFill>
                <a:latin typeface="Open Sans"/>
              </a:rPr>
              <a:t> Phase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27820" y="411956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B1120"/>
          </a:solidFill>
          <a:ln w="476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63740" y="411956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B1120"/>
          </a:solidFill>
          <a:ln w="476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99659" y="411956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B1120"/>
          </a:solidFill>
          <a:ln w="476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235579" y="411956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B1120"/>
          </a:solidFill>
          <a:ln w="476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4375" y="571500"/>
            <a:ext cx="11451431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F8FAFC"/>
                </a:solidFill>
                <a:latin typeface="Montserrat SemiBold"/>
              </a:rPr>
              <a:t>Project Status &amp; Next Steps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571500"/>
            <a:ext cx="57150" cy="4667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614588"/>
            <a:ext cx="85725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04975" y="3608040"/>
            <a:ext cx="98774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34155"/>
                </a:solidFill>
                <a:latin typeface="Open Sans"/>
              </a:rPr>
              <a:t>https://png.pngtree.com/thumb_back/fh260/background/20260610/pngtree-futuristic-digital-wave-background-with-glowing-data-flow-and-ai-network-image_21911693.webp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04975" y="3853755"/>
            <a:ext cx="98774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Open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Open Sans"/>
              </a:rPr>
              <a:t>pngtree.com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4375" y="571500"/>
            <a:ext cx="11451431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0F172A"/>
                </a:solidFill>
                <a:latin typeface="Montserrat SemiBold"/>
              </a:rPr>
              <a:t>Image Sources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571500"/>
            <a:ext cx="57150" cy="46672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